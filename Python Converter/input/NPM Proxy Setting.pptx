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5"/>
  </p:notesMasterIdLst>
  <p:sldIdLst>
    <p:sldId id="256" r:id="rId4"/>
    <p:sldId id="257" r:id="rId5"/>
    <p:sldId id="267" r:id="rId6"/>
    <p:sldId id="258" r:id="rId7"/>
    <p:sldId id="266" r:id="rId8"/>
    <p:sldId id="259" r:id="rId9"/>
    <p:sldId id="260" r:id="rId10"/>
    <p:sldId id="262" r:id="rId11"/>
    <p:sldId id="263" r:id="rId12"/>
    <p:sldId id="264" r:id="rId13"/>
    <p:sldId id="261" r:id="rId14"/>
  </p:sldIdLst>
  <p:sldSz cx="10969625" cy="6170613"/>
  <p:notesSz cx="6858000" cy="9144000"/>
  <p:custDataLst>
    <p:tags r:id="rId16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73" autoAdjust="0"/>
    <p:restoredTop sz="94660"/>
  </p:normalViewPr>
  <p:slideViewPr>
    <p:cSldViewPr snapToGrid="0">
      <p:cViewPr varScale="1">
        <p:scale>
          <a:sx n="95" d="100"/>
          <a:sy n="95" d="100"/>
        </p:scale>
        <p:origin x="9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17.06.2021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Add Closing Phrase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AE/MOE1-D-CN | 2020-04-30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Bosch Automotive Products (Suzhou) Co. Ltd  2020.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b-artifactory.bosch.com/artifactory/webapp/#/artifacts/browse/tree/General/bci-npm-virtual" TargetMode="External"/><Relationship Id="rId2" Type="http://schemas.openxmlformats.org/officeDocument/2006/relationships/hyperlink" Target="http://nodejs.cn/download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rb-artifactory.bosch.com/artifactory/api/npm/bci-npm-virtual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slang.cn/" TargetMode="External"/><Relationship Id="rId2" Type="http://schemas.openxmlformats.org/officeDocument/2006/relationships/hyperlink" Target="https://angular.cn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semlinker.com/" TargetMode="External"/><Relationship Id="rId4" Type="http://schemas.openxmlformats.org/officeDocument/2006/relationships/hyperlink" Target="https://rxjs-dev.firebaseapp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82EB9-F888-4EF5-9BD3-4FB532D11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G</a:t>
            </a:r>
            <a:r>
              <a:rPr lang="en-US" altLang="zh-CN"/>
              <a:t>etting started with</a:t>
            </a:r>
            <a:br>
              <a:rPr lang="en-US" altLang="zh-CN"/>
            </a:br>
            <a:r>
              <a:rPr lang="en-US" altLang="zh-CN"/>
              <a:t>Web core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978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准备及安装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</a:t>
            </a:r>
            <a:r>
              <a:rPr lang="en-US" altLang="zh-CN"/>
              <a:t>etup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259200" y="978872"/>
            <a:ext cx="10104755" cy="46929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安装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Node.js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  <a:hlinkClick r:id="rId2"/>
              </a:rPr>
              <a:t>http://nodejs.cn/download/</a:t>
            </a:r>
            <a:endParaRPr lang="en-US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noProof="0" dirty="0">
                <a:solidFill>
                  <a:srgbClr val="000000"/>
                </a:solidFill>
              </a:rPr>
              <a:t>&gt;</a:t>
            </a:r>
            <a:r>
              <a:rPr lang="en-US" sz="1400" b="1" kern="0" noProof="0" dirty="0">
                <a:solidFill>
                  <a:srgbClr val="000000"/>
                </a:solidFill>
              </a:rPr>
              <a:t>node –v</a:t>
            </a:r>
          </a:p>
          <a:p>
            <a:pPr marL="285750" indent="-285750"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Char char=""/>
            </a:pPr>
            <a:r>
              <a:rPr lang="zh-CN" altLang="en-US" sz="1400" kern="0" dirty="0">
                <a:solidFill>
                  <a:srgbClr val="000000"/>
                </a:solidFill>
              </a:rPr>
              <a:t>注册</a:t>
            </a:r>
            <a:r>
              <a:rPr lang="en-US" altLang="zh-CN" sz="1400" kern="0" dirty="0" err="1">
                <a:solidFill>
                  <a:srgbClr val="000000"/>
                </a:solidFill>
              </a:rPr>
              <a:t>npm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  <a:hlinkClick r:id="rId3"/>
              </a:rPr>
              <a:t>https://rb-artifactory.bosch.com/artifactory/webapp/#/artifacts/browse/tree/General/bci-npm-virtual</a:t>
            </a:r>
            <a:endParaRPr lang="en-US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-</a:t>
            </a:r>
            <a:r>
              <a:rPr lang="zh-CN" altLang="en-US" sz="1400" kern="0" dirty="0">
                <a:solidFill>
                  <a:srgbClr val="000000"/>
                </a:solidFill>
              </a:rPr>
              <a:t>点击</a:t>
            </a:r>
            <a:r>
              <a:rPr lang="en-US" altLang="zh-CN" sz="1400" kern="0" dirty="0">
                <a:solidFill>
                  <a:srgbClr val="000000"/>
                </a:solidFill>
              </a:rPr>
              <a:t>Log In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点击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Set M</a:t>
            </a:r>
            <a:r>
              <a:rPr lang="en-US" altLang="zh-CN" sz="1400" kern="0" dirty="0">
                <a:solidFill>
                  <a:srgbClr val="000000"/>
                </a:solidFill>
              </a:rPr>
              <a:t>e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Up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，重新输入密码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</a:rPr>
              <a:t>&gt;</a:t>
            </a:r>
            <a:r>
              <a:rPr lang="en-US" sz="1400" b="1" kern="0" dirty="0" err="1">
                <a:solidFill>
                  <a:srgbClr val="000000"/>
                </a:solidFill>
              </a:rPr>
              <a:t>npm</a:t>
            </a:r>
            <a:r>
              <a:rPr lang="en-US" sz="1400" b="1" kern="0" dirty="0">
                <a:solidFill>
                  <a:srgbClr val="000000"/>
                </a:solidFill>
              </a:rPr>
              <a:t> </a:t>
            </a:r>
            <a:r>
              <a:rPr lang="en-US" sz="1400" b="1" kern="0" dirty="0" err="1">
                <a:solidFill>
                  <a:srgbClr val="000000"/>
                </a:solidFill>
              </a:rPr>
              <a:t>config</a:t>
            </a:r>
            <a:r>
              <a:rPr lang="en-US" sz="1400" b="1" kern="0" dirty="0">
                <a:solidFill>
                  <a:srgbClr val="000000"/>
                </a:solidFill>
              </a:rPr>
              <a:t> set registry </a:t>
            </a:r>
            <a:r>
              <a:rPr lang="en-US" sz="1400" b="1" kern="0" dirty="0">
                <a:solidFill>
                  <a:srgbClr val="000000"/>
                </a:solidFill>
                <a:hlinkClick r:id="rId4"/>
              </a:rPr>
              <a:t>https://rb-artifactory.bosch.com/artifactory/api/npm/bci-npm-virtual/</a:t>
            </a:r>
            <a:endParaRPr lang="en-US" sz="1400" b="1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</a:rPr>
              <a:t>&gt;</a:t>
            </a:r>
            <a:r>
              <a:rPr lang="en-US" sz="1400" b="1" kern="0" dirty="0" err="1">
                <a:solidFill>
                  <a:srgbClr val="000000"/>
                </a:solidFill>
              </a:rPr>
              <a:t>npm</a:t>
            </a:r>
            <a:r>
              <a:rPr lang="en-US" sz="1400" b="1" kern="0" dirty="0">
                <a:solidFill>
                  <a:srgbClr val="000000"/>
                </a:solidFill>
              </a:rPr>
              <a:t> login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-</a:t>
            </a:r>
            <a:r>
              <a:rPr lang="en-US" altLang="zh-CN" sz="1400" kern="0" dirty="0" err="1">
                <a:solidFill>
                  <a:srgbClr val="000000"/>
                </a:solidFill>
              </a:rPr>
              <a:t>C:User</a:t>
            </a:r>
            <a:r>
              <a:rPr lang="en-US" altLang="zh-CN" sz="1400" kern="0" dirty="0">
                <a:solidFill>
                  <a:srgbClr val="000000"/>
                </a:solidFill>
              </a:rPr>
              <a:t>/</a:t>
            </a:r>
            <a:r>
              <a:rPr lang="zh-CN" altLang="en-US" sz="1400" kern="0" dirty="0">
                <a:solidFill>
                  <a:srgbClr val="000000"/>
                </a:solidFill>
              </a:rPr>
              <a:t>****</a:t>
            </a:r>
            <a:r>
              <a:rPr lang="en-US" altLang="zh-CN" sz="1400" kern="0" dirty="0">
                <a:solidFill>
                  <a:srgbClr val="000000"/>
                </a:solidFill>
              </a:rPr>
              <a:t>/.</a:t>
            </a:r>
            <a:r>
              <a:rPr lang="en-US" altLang="zh-CN" sz="1400" kern="0" dirty="0" err="1">
                <a:solidFill>
                  <a:srgbClr val="000000"/>
                </a:solidFill>
              </a:rPr>
              <a:t>npmrc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</a:rPr>
              <a:t>registry=https://rb-artifactory.bosch.com/artifactory/api/npm/bci-npm-virtual/</a:t>
            </a:r>
          </a:p>
          <a:p>
            <a:pPr marR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</a:rPr>
              <a:t>//rb-artifactory.bosch.com/</a:t>
            </a:r>
            <a:r>
              <a:rPr lang="en-US" sz="1100" b="1" kern="0" dirty="0" err="1">
                <a:solidFill>
                  <a:srgbClr val="000000"/>
                </a:solidFill>
              </a:rPr>
              <a:t>artifactory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api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bci</a:t>
            </a:r>
            <a:r>
              <a:rPr lang="en-US" sz="1100" b="1" kern="0" dirty="0">
                <a:solidFill>
                  <a:srgbClr val="000000"/>
                </a:solidFill>
              </a:rPr>
              <a:t>-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-virtual/:_</a:t>
            </a:r>
            <a:r>
              <a:rPr lang="en-US" sz="1100" b="1" kern="0" dirty="0" err="1">
                <a:solidFill>
                  <a:srgbClr val="000000"/>
                </a:solidFill>
              </a:rPr>
              <a:t>auth</a:t>
            </a:r>
            <a:r>
              <a:rPr lang="en-US" sz="1100" b="1" kern="0" dirty="0">
                <a:solidFill>
                  <a:srgbClr val="000000"/>
                </a:solidFill>
              </a:rPr>
              <a:t>=</a:t>
            </a:r>
            <a:r>
              <a:rPr lang="zh-CN" altLang="en-US" sz="1100" b="1" kern="0" dirty="0">
                <a:solidFill>
                  <a:srgbClr val="000000"/>
                </a:solidFill>
              </a:rPr>
              <a:t>****************************************</a:t>
            </a:r>
            <a:endParaRPr lang="en-US" sz="1100" b="1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</a:rPr>
              <a:t>//rb-artifactory.bosch.com/</a:t>
            </a:r>
            <a:r>
              <a:rPr lang="en-US" sz="1100" b="1" kern="0" dirty="0" err="1">
                <a:solidFill>
                  <a:srgbClr val="000000"/>
                </a:solidFill>
              </a:rPr>
              <a:t>artifactory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api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bci</a:t>
            </a:r>
            <a:r>
              <a:rPr lang="en-US" sz="1100" b="1" kern="0" dirty="0">
                <a:solidFill>
                  <a:srgbClr val="000000"/>
                </a:solidFill>
              </a:rPr>
              <a:t>-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-virtual/:username=cio2szh</a:t>
            </a:r>
          </a:p>
          <a:p>
            <a:pPr marR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</a:rPr>
              <a:t>//rb-artifactory.bosch.com/</a:t>
            </a:r>
            <a:r>
              <a:rPr lang="en-US" sz="1100" b="1" kern="0" dirty="0" err="1">
                <a:solidFill>
                  <a:srgbClr val="000000"/>
                </a:solidFill>
              </a:rPr>
              <a:t>artifactory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api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bci</a:t>
            </a:r>
            <a:r>
              <a:rPr lang="en-US" sz="1100" b="1" kern="0" dirty="0">
                <a:solidFill>
                  <a:srgbClr val="000000"/>
                </a:solidFill>
              </a:rPr>
              <a:t>-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-virtual/:email=Lingyang.CAO@cn.bosch.com</a:t>
            </a:r>
          </a:p>
          <a:p>
            <a:pPr marR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</a:rPr>
              <a:t>//rb-artifactory.bosch.com/</a:t>
            </a:r>
            <a:r>
              <a:rPr lang="en-US" sz="1100" b="1" kern="0" dirty="0" err="1">
                <a:solidFill>
                  <a:srgbClr val="000000"/>
                </a:solidFill>
              </a:rPr>
              <a:t>artifactory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api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/</a:t>
            </a:r>
            <a:r>
              <a:rPr lang="en-US" sz="1100" b="1" kern="0" dirty="0" err="1">
                <a:solidFill>
                  <a:srgbClr val="000000"/>
                </a:solidFill>
              </a:rPr>
              <a:t>bci</a:t>
            </a:r>
            <a:r>
              <a:rPr lang="en-US" sz="1100" b="1" kern="0" dirty="0">
                <a:solidFill>
                  <a:srgbClr val="000000"/>
                </a:solidFill>
              </a:rPr>
              <a:t>-</a:t>
            </a:r>
            <a:r>
              <a:rPr lang="en-US" sz="1100" b="1" kern="0" dirty="0" err="1">
                <a:solidFill>
                  <a:srgbClr val="000000"/>
                </a:solidFill>
              </a:rPr>
              <a:t>npm</a:t>
            </a:r>
            <a:r>
              <a:rPr lang="en-US" sz="1100" b="1" kern="0" dirty="0">
                <a:solidFill>
                  <a:srgbClr val="000000"/>
                </a:solidFill>
              </a:rPr>
              <a:t>-virtual/:always-</a:t>
            </a:r>
            <a:r>
              <a:rPr lang="en-US" sz="1100" b="1" kern="0" dirty="0" err="1">
                <a:solidFill>
                  <a:srgbClr val="000000"/>
                </a:solidFill>
              </a:rPr>
              <a:t>auth</a:t>
            </a:r>
            <a:r>
              <a:rPr lang="en-US" sz="1100" b="1" kern="0" dirty="0">
                <a:solidFill>
                  <a:srgbClr val="000000"/>
                </a:solidFill>
              </a:rPr>
              <a:t>=true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lang="zh-CN" altLang="en-US" sz="1400" kern="0" dirty="0">
                <a:solidFill>
                  <a:srgbClr val="000000"/>
                </a:solidFill>
              </a:rPr>
              <a:t>安装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npm</a:t>
            </a:r>
            <a:r>
              <a:rPr lang="en-US" altLang="zh-CN" sz="1400" b="1" kern="0" dirty="0">
                <a:solidFill>
                  <a:srgbClr val="000000"/>
                </a:solidFill>
              </a:rPr>
              <a:t> 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i</a:t>
            </a:r>
            <a:r>
              <a:rPr lang="en-US" altLang="zh-CN" sz="1400" b="1" kern="0" dirty="0">
                <a:solidFill>
                  <a:srgbClr val="000000"/>
                </a:solidFill>
              </a:rPr>
              <a:t> -g @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bci</a:t>
            </a:r>
            <a:r>
              <a:rPr lang="en-US" altLang="zh-CN" sz="1400" b="1" kern="0" dirty="0">
                <a:solidFill>
                  <a:srgbClr val="000000"/>
                </a:solidFill>
              </a:rPr>
              <a:t>-web-core/schematics@9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npm</a:t>
            </a:r>
            <a:r>
              <a:rPr lang="en-US" altLang="zh-CN" sz="1400" b="1" kern="0" dirty="0">
                <a:solidFill>
                  <a:srgbClr val="000000"/>
                </a:solidFill>
              </a:rPr>
              <a:t> 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i</a:t>
            </a:r>
            <a:r>
              <a:rPr lang="en-US" altLang="zh-CN" sz="1400" b="1" kern="0" dirty="0">
                <a:solidFill>
                  <a:srgbClr val="000000"/>
                </a:solidFill>
              </a:rPr>
              <a:t> -g @angular/cli@9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2737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卸载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259200" y="1036800"/>
            <a:ext cx="10104755" cy="44127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lang="zh-CN" altLang="en-US" sz="1400" kern="0" dirty="0">
                <a:solidFill>
                  <a:srgbClr val="000000"/>
                </a:solidFill>
              </a:rPr>
              <a:t>卸载之前版本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sz="1400" b="1" dirty="0" err="1"/>
              <a:t>npm</a:t>
            </a:r>
            <a:r>
              <a:rPr lang="en-US" sz="1400" b="1" dirty="0"/>
              <a:t> uninstall -g @angular/cli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lang="zh-CN" altLang="en-US" sz="1400" kern="0" dirty="0">
                <a:solidFill>
                  <a:srgbClr val="000000"/>
                </a:solidFill>
              </a:rPr>
              <a:t>清理缓存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sz="1400" b="1" dirty="0" err="1"/>
              <a:t>npm</a:t>
            </a:r>
            <a:r>
              <a:rPr lang="en-US" sz="1400" b="1" dirty="0"/>
              <a:t> cache verify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lang="zh-CN" altLang="en-US" sz="1400" kern="0" dirty="0">
                <a:solidFill>
                  <a:srgbClr val="000000"/>
                </a:solidFill>
              </a:rPr>
              <a:t>安装新版本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sz="1400" b="1" dirty="0" err="1"/>
              <a:t>npm</a:t>
            </a:r>
            <a:r>
              <a:rPr lang="en-US" sz="1400" b="1"/>
              <a:t> install</a:t>
            </a:r>
            <a:r>
              <a:rPr lang="en-US" sz="1400" b="1" dirty="0"/>
              <a:t> -g </a:t>
            </a:r>
            <a:r>
              <a:rPr lang="en-US" sz="1400" b="1"/>
              <a:t>@angular/cli</a:t>
            </a:r>
            <a:r>
              <a:rPr lang="en-US" altLang="zh-CN" sz="1400" b="1"/>
              <a:t>@9</a:t>
            </a:r>
            <a:endParaRPr lang="en-US" sz="1400" b="1" dirty="0"/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zh-CN" sz="1400" b="1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47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准备及安装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178642" y="1046295"/>
            <a:ext cx="6639340" cy="4560223"/>
          </a:xfrm>
          <a:prstGeom prst="rect">
            <a:avLst/>
          </a:prstGeom>
          <a:noFill/>
        </p:spPr>
        <p:txBody>
          <a:bodyPr wrap="square" rIns="91440" rtlCol="0">
            <a:spAutoFit/>
          </a:bodyPr>
          <a:lstStyle/>
          <a:p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</a:t>
            </a:r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Node.msi</a:t>
            </a:r>
          </a:p>
          <a:p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https://nodejs.org/en/download/</a:t>
            </a:r>
            <a:endParaRPr lang="en-US" altLang="zh-CN" sz="1400" dirty="0">
              <a:solidFill>
                <a:srgbClr val="999FA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检查版本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&gt;node –v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-v</a:t>
            </a:r>
          </a:p>
          <a:p>
            <a:pPr marL="285750" indent="-285750"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Char char=""/>
            </a:pPr>
            <a:r>
              <a:rPr lang="zh-CN" altLang="en-US" sz="1400" kern="0" dirty="0">
                <a:solidFill>
                  <a:srgbClr val="000000"/>
                </a:solidFill>
              </a:rPr>
              <a:t>安装</a:t>
            </a:r>
            <a:r>
              <a:rPr lang="en-US" altLang="zh-CN" sz="1400" kern="0" dirty="0" err="1">
                <a:solidFill>
                  <a:srgbClr val="000000"/>
                </a:solidFill>
              </a:rPr>
              <a:t>TypeScript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install -g typescript</a:t>
            </a:r>
          </a:p>
          <a:p>
            <a:pPr marL="285750" indent="-285750"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Char char=""/>
            </a:pPr>
            <a:r>
              <a:rPr lang="zh-CN" altLang="en-US" sz="1400" kern="0" dirty="0">
                <a:solidFill>
                  <a:srgbClr val="000000"/>
                </a:solidFill>
              </a:rPr>
              <a:t>检查版本</a:t>
            </a: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tsc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-v</a:t>
            </a:r>
          </a:p>
          <a:p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</a:t>
            </a:r>
            <a:r>
              <a:rPr lang="en-US" altLang="zh-CN" sz="1400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cnpm</a:t>
            </a:r>
            <a:endParaRPr lang="en-US" altLang="zh-CN" sz="1400" dirty="0">
              <a:solidFill>
                <a:srgbClr val="999FA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install -g 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--registry=https://registry.npm.taobao.org</a:t>
            </a:r>
          </a:p>
          <a:p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</a:t>
            </a:r>
            <a:r>
              <a:rPr lang="en-US" altLang="zh-CN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angular-cli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install -g @angular/cli@8</a:t>
            </a:r>
          </a:p>
          <a:p>
            <a:r>
              <a:rPr lang="zh-CN" altLang="en-US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检查版本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&gt;ng version</a:t>
            </a:r>
          </a:p>
          <a:p>
            <a:r>
              <a:rPr lang="zh-CN" altLang="en-US" sz="1400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卸载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uninstall -g angular/cli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uninstall -g @angular/cli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cache clean</a:t>
            </a:r>
          </a:p>
          <a:p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&gt;Delete the ..\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AppData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\Roaming\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npm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</a:t>
            </a:r>
            <a:r>
              <a:rPr lang="en-US" altLang="zh-CN" sz="1400" b="1" dirty="0" err="1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node_modules</a:t>
            </a:r>
            <a:r>
              <a:rPr lang="en-US" altLang="zh-CN" sz="1400" b="1" dirty="0">
                <a:solidFill>
                  <a:srgbClr val="999F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\@angular folder</a:t>
            </a:r>
          </a:p>
        </p:txBody>
      </p:sp>
    </p:spTree>
    <p:extLst>
      <p:ext uri="{BB962C8B-B14F-4D97-AF65-F5344CB8AC3E}">
        <p14:creationId xmlns:p14="http://schemas.microsoft.com/office/powerpoint/2010/main" val="218795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</a:t>
            </a:r>
            <a:r>
              <a:rPr lang="en-US" altLang="zh-CN"/>
              <a:t>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259200" y="1036800"/>
            <a:ext cx="10104755" cy="44127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lang="zh-CN" altLang="en-US" sz="1400" kern="0" dirty="0">
                <a:solidFill>
                  <a:srgbClr val="000000"/>
                </a:solidFill>
              </a:rPr>
              <a:t>新建项目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altLang="zh-CN" sz="1400" b="1" kern="0" dirty="0">
                <a:solidFill>
                  <a:srgbClr val="000000"/>
                </a:solidFill>
              </a:rPr>
              <a:t>ng new demo</a:t>
            </a:r>
          </a:p>
          <a:p>
            <a:pPr marL="285750" indent="-285750"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Char char=""/>
            </a:pPr>
            <a:r>
              <a:rPr lang="zh-CN" altLang="en-US" sz="1400" kern="0" dirty="0">
                <a:solidFill>
                  <a:srgbClr val="000000"/>
                </a:solidFill>
              </a:rPr>
              <a:t>运行项目</a:t>
            </a:r>
            <a:endParaRPr lang="en-US" altLang="zh-CN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altLang="zh-CN" sz="1400" b="1" kern="0" dirty="0">
                <a:solidFill>
                  <a:srgbClr val="000000"/>
                </a:solidFill>
              </a:rPr>
              <a:t>ng serve –open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altLang="zh-CN" sz="1400" b="1" kern="0" dirty="0">
              <a:solidFill>
                <a:srgbClr val="000000"/>
              </a:solidFill>
            </a:endParaRP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Char char=""/>
              <a:tabLst/>
            </a:pPr>
            <a:r>
              <a:rPr lang="zh-CN" altLang="en-US" sz="1400" kern="0" dirty="0">
                <a:solidFill>
                  <a:srgbClr val="000000"/>
                </a:solidFill>
              </a:rPr>
              <a:t>设置环境变量阻止下载</a:t>
            </a:r>
            <a:r>
              <a:rPr lang="en-US" altLang="zh-CN" sz="1400" kern="0" dirty="0">
                <a:solidFill>
                  <a:srgbClr val="000000"/>
                </a:solidFill>
              </a:rPr>
              <a:t>Chromium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zh-CN" altLang="en-US" sz="1400" kern="0" dirty="0">
                <a:solidFill>
                  <a:srgbClr val="000000"/>
                </a:solidFill>
              </a:rPr>
              <a:t>新建项目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npm</a:t>
            </a:r>
            <a:r>
              <a:rPr lang="en-US" altLang="zh-CN" sz="1400" b="1" kern="0" dirty="0">
                <a:solidFill>
                  <a:srgbClr val="000000"/>
                </a:solidFill>
              </a:rPr>
              <a:t> 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config</a:t>
            </a:r>
            <a:r>
              <a:rPr lang="en-US" altLang="zh-CN" sz="1400" b="1" kern="0" dirty="0">
                <a:solidFill>
                  <a:srgbClr val="000000"/>
                </a:solidFill>
              </a:rPr>
              <a:t> set 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puppeteer_skip_chromium_download</a:t>
            </a:r>
            <a:r>
              <a:rPr lang="en-US" altLang="zh-CN" sz="1400" b="1" kern="0" dirty="0">
                <a:solidFill>
                  <a:srgbClr val="000000"/>
                </a:solidFill>
              </a:rPr>
              <a:t> = 1</a:t>
            </a:r>
          </a:p>
          <a:p>
            <a:pPr marL="285750" indent="-285750"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Char char=""/>
            </a:pPr>
            <a:endParaRPr lang="en-US" altLang="zh-CN" sz="1400" kern="0" dirty="0">
              <a:solidFill>
                <a:srgbClr val="000000"/>
              </a:solidFill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altLang="zh-CN" sz="1400" kern="0" dirty="0">
                <a:solidFill>
                  <a:srgbClr val="000000"/>
                </a:solidFill>
              </a:rPr>
              <a:t>&gt;</a:t>
            </a:r>
            <a:r>
              <a:rPr lang="en-US" altLang="zh-CN" sz="1400" b="1" kern="0" dirty="0">
                <a:solidFill>
                  <a:srgbClr val="000000"/>
                </a:solidFill>
              </a:rPr>
              <a:t>ng new &lt;name&gt; --collection=@</a:t>
            </a:r>
            <a:r>
              <a:rPr lang="en-US" altLang="zh-CN" sz="1400" b="1" kern="0" dirty="0" err="1">
                <a:solidFill>
                  <a:srgbClr val="000000"/>
                </a:solidFill>
              </a:rPr>
              <a:t>bci</a:t>
            </a:r>
            <a:r>
              <a:rPr lang="en-US" altLang="zh-CN" sz="1400" b="1" kern="0" dirty="0">
                <a:solidFill>
                  <a:srgbClr val="000000"/>
                </a:solidFill>
              </a:rPr>
              <a:t>-web-core/schematics</a:t>
            </a:r>
          </a:p>
        </p:txBody>
      </p:sp>
    </p:spTree>
    <p:extLst>
      <p:ext uri="{BB962C8B-B14F-4D97-AF65-F5344CB8AC3E}">
        <p14:creationId xmlns:p14="http://schemas.microsoft.com/office/powerpoint/2010/main" val="310614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目录结构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</a:t>
            </a:r>
            <a:r>
              <a:rPr lang="en-US" altLang="zh-CN"/>
              <a:t>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172" y="2497530"/>
            <a:ext cx="3967075" cy="2905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9200" y="1155772"/>
            <a:ext cx="6483725" cy="4247317"/>
          </a:xfrm>
          <a:prstGeom prst="rect">
            <a:avLst/>
          </a:prstGeom>
          <a:noFill/>
        </p:spPr>
        <p:txBody>
          <a:bodyPr wrap="square" rIns="91440" rtlCol="0">
            <a:spAutoFit/>
          </a:bodyPr>
          <a:lstStyle/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|--e2e: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自动化继承测试目录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node_modules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第三方依赖包存放目录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src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项目源代码目录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</a:t>
            </a:r>
            <a:r>
              <a:rPr lang="en-US" altLang="zh-CN" sz="9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应用的组件和模块，工程源码目录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|--app-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routing.module.ts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路由</a:t>
            </a:r>
          </a:p>
          <a:p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|--app.component.css: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css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|--app.component.html: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html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app.component.spec.ts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的测试</a:t>
            </a:r>
          </a:p>
          <a:p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app.component.ts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的组件</a:t>
            </a:r>
          </a:p>
          <a:p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b="1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app.module.ts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的模块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</a:t>
            </a:r>
            <a:r>
              <a:rPr lang="en-US" altLang="zh-CN" sz="9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assets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存放静态资源，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js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css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、图片等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|--environments: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环境配置目录，可进行多环境配置（测试、开发、生产）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|--favicon.ico: header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里的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icon</a:t>
            </a:r>
            <a:endParaRPr lang="zh-CN" altLang="en-US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|--index.html: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项目启动时首先加载该文件，这是全局文件，可在该文件声明引入外部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js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css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等，包含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&lt;app-root&gt;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标签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</a:t>
            </a:r>
            <a:r>
              <a:rPr lang="en-US" altLang="zh-CN" sz="900" b="1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main.ts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整个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web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应用执行入口点，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angular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通过该文件启动整个项目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polyfills.ts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不同浏览器兼容脚本加载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|--styles.css: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整个项目的全局样式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    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test.ts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测试入口，自动化测试相关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|--.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editorcinfig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不同编译器统一代码风格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|--.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gitignore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git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中忽略文件列表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angular.json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angular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配置文件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browserslist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配置浏览器兼容性文件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|--karma.conf.js: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自动化测试框架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Karma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的配置文件，用来执行自动化测试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|--package-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lock.json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依赖包版本锁定文件，以保证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npm install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时依赖保证一致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package.json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npm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工具的依赖包配置文件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|--README.md: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项目说明的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MakeDown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tsconfig.app.json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app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项目的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TypeScript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配置文件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tsconfig.json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整个工作区的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TypeScript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配置文件，将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编译成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(node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只识别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js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tsconfig.spec.json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用于测试的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TypeScript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配置文件</a:t>
            </a:r>
            <a:endParaRPr lang="en-US" altLang="zh-CN" sz="9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|--tslint.json: 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en-US" altLang="zh-CN" sz="9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typeScript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质量检测的规则，</a:t>
            </a:r>
            <a:r>
              <a:rPr lang="en-US" altLang="zh-CN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TS</a:t>
            </a:r>
            <a:r>
              <a:rPr lang="zh-CN" altLang="en-US" sz="90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代码静态扫描配置</a:t>
            </a:r>
            <a:endParaRPr lang="en-US" altLang="zh-CN" sz="9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274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核心概念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</a:t>
            </a:r>
            <a:r>
              <a:rPr lang="en-US" altLang="zh-CN"/>
              <a:t>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0" y="1117482"/>
            <a:ext cx="9403188" cy="412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1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组件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</a:t>
            </a:r>
            <a:r>
              <a:rPr lang="en-US" altLang="zh-CN"/>
              <a:t>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5" name="Rectangle 4"/>
          <p:cNvSpPr/>
          <p:nvPr/>
        </p:nvSpPr>
        <p:spPr>
          <a:xfrm>
            <a:off x="266700" y="1125016"/>
            <a:ext cx="468035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创建新组件</a:t>
            </a: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&gt;ng generate component hello-world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组成：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Component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注解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组件定义类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-TypeScript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sz="11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component.ts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&gt;import { things } from wherever: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解构，引入依赖</a:t>
            </a: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&gt;@Component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装饰器，声明</a:t>
            </a: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-selector: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选择器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a:not([name=2])</a:t>
            </a:r>
            <a:endParaRPr lang="zh-CN" altLang="en-US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1100" b="1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templateUrl</a:t>
            </a:r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/template: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模板</a:t>
            </a: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1100" b="1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styleUrls</a:t>
            </a:r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样式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export class </a:t>
            </a:r>
            <a:r>
              <a:rPr lang="en-US" altLang="zh-CN" sz="1100" b="1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ContactComponent</a:t>
            </a:r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 {}: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类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-name: type;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constructor: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构造函数，初始化属性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-this.name = "";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成员装饰器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&gt;@Input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接收父组件的数据源输入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{ Input } from '@angular/core';</a:t>
            </a:r>
          </a:p>
          <a:p>
            <a:r>
              <a:rPr lang="en-US" altLang="zh-CN" sz="11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&gt;@Output: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向父组件发送数据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{ Output, </a:t>
            </a:r>
            <a:r>
              <a:rPr lang="en-US" altLang="zh-CN" sz="11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EventEmitter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 } from '@angular/core';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模板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&lt;p&gt;{{ name }}&lt;/p&gt;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&lt;</a:t>
            </a:r>
            <a:r>
              <a:rPr lang="en-US" altLang="zh-CN" sz="11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ul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&gt;&lt;li *</a:t>
            </a:r>
            <a:r>
              <a:rPr lang="en-US" altLang="zh-CN" sz="11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ngFor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="let item of lists"&gt;{{ item }}&lt;/li&gt;&lt;/</a:t>
            </a:r>
            <a:r>
              <a:rPr lang="en-US" altLang="zh-CN" sz="110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ul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生命周期钩子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&gt;ngOnChanges: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数据绑定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@Input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输入属性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不可变对象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的值变化时</a:t>
            </a:r>
          </a:p>
          <a:p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&gt;ngOnInit: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第一次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ngOnChanges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后，只会被调用一次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53" y="1125016"/>
            <a:ext cx="3637647" cy="441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6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</a:t>
            </a:r>
            <a:r>
              <a:rPr lang="en-US" altLang="zh-CN"/>
              <a:t>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5" name="Rectangle 4"/>
          <p:cNvSpPr/>
          <p:nvPr/>
        </p:nvSpPr>
        <p:spPr>
          <a:xfrm>
            <a:off x="259200" y="1036800"/>
            <a:ext cx="516166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单向绑定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&gt;{{text}} /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插值表达式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&gt;[title] /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属性绑定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&gt;html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&gt;(click) /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事件绑定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html&gt;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ts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双向绑定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&gt;[(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ngModel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)]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-HTML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/DOM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属性绑定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attr.colspan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样式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class.selected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]="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boolean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style.color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]="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isRed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?'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red':'green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'"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鼠标事件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&gt;(click)="click(value, $event)"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3353" y="914118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管道</a:t>
            </a:r>
            <a:endParaRPr lang="en-US" altLang="zh-CN" sz="140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&gt;{{ item.date | date }}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-string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&gt;lowercase/uppercase/titlecase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-number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&gt;number: '1.0-3'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&gt;percent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&gt;currency:'USD':true:'4.2-2'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-object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&gt;date: 'yyyy/MM/dd HH:mm:ss'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&gt;json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-tools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&gt;slice: 0:3</a:t>
            </a:r>
          </a:p>
          <a:p>
            <a:pPr lvl="0"/>
            <a:r>
              <a:rPr lang="en-US" altLang="zh-CN" sz="140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&gt;AsyncPipe</a:t>
            </a:r>
          </a:p>
        </p:txBody>
      </p:sp>
    </p:spTree>
    <p:extLst>
      <p:ext uri="{BB962C8B-B14F-4D97-AF65-F5344CB8AC3E}">
        <p14:creationId xmlns:p14="http://schemas.microsoft.com/office/powerpoint/2010/main" val="3265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</a:t>
            </a:r>
            <a:r>
              <a:rPr lang="en-US" altLang="zh-CN"/>
              <a:t>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259200" y="1132117"/>
            <a:ext cx="7446271" cy="4401205"/>
          </a:xfrm>
          <a:prstGeom prst="rect">
            <a:avLst/>
          </a:prstGeom>
          <a:noFill/>
        </p:spPr>
        <p:txBody>
          <a:bodyPr wrap="square" rIns="91440" rtlCol="0">
            <a:spAutoFit/>
          </a:bodyPr>
          <a:lstStyle/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内置指令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ngSwitch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]/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ngSwitchCase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&lt;div class="container" [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ngSwitch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]="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myVar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"&gt;</a:t>
            </a: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&lt;div *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ngSwitchCase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="'A'"&gt;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is A&lt;/div&gt;</a:t>
            </a: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&lt;div *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ngSwitchDefault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is something else&lt;/div&gt;</a:t>
            </a: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&lt;/div&gt;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ngStyle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&lt;div [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ngStyle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]="{color: color}" [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style.font-size.px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]="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fontSize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"&gt;&lt;/div&gt;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ngClass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&lt;div [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ngClass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]="{bordered: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isBordered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}"&gt;&lt;/div&gt;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ngIf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&lt;div *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ngIf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="false"&gt;&lt;/div&gt;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ngFor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ngFor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="let item of items; let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num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index"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ngNonBindable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不识别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{{}}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不编译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&lt;span class="pre"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ngNonBindable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&gt;{{content}}&lt;/span&gt;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&gt;[hidden]</a:t>
            </a: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NgTemplateOutLet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NgPlural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自定义指令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59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链接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/>
              <a:t>Study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5" name="Rectangle 4"/>
          <p:cNvSpPr/>
          <p:nvPr/>
        </p:nvSpPr>
        <p:spPr>
          <a:xfrm>
            <a:off x="259200" y="1300095"/>
            <a:ext cx="89385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&gt;Angular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官网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https://angular.cn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&gt;TypeScript: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https://www.tslang.cn/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&gt;RxJS: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https://rxjs-dev.firebaseapp.com/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&gt;《Angular2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权威教程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</a:p>
          <a:p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全栈修仙之路：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  <a:hlinkClick r:id="rId5"/>
              </a:rPr>
              <a:t>http://www.semlinker.com/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09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</p:tagLst>
</file>

<file path=ppt/theme/theme1.xml><?xml version="1.0" encoding="utf-8"?>
<a:theme xmlns:a="http://schemas.openxmlformats.org/drawingml/2006/main" name="Bosch NG">
  <a:themeElements>
    <a:clrScheme name="Bosch_Fuchsia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A80163"/>
      </a:accent1>
      <a:accent2>
        <a:srgbClr val="D067AD"/>
      </a:accent2>
      <a:accent3>
        <a:srgbClr val="B2B3B5"/>
      </a:accent3>
      <a:accent4>
        <a:srgbClr val="424C58"/>
      </a:accent4>
      <a:accent5>
        <a:srgbClr val="3F136C"/>
      </a:accent5>
      <a:accent6>
        <a:srgbClr val="967CB1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F7EF9966-F53A-44CC-A756-EF9E132AF5E6}" vid="{BE1FDABE-663E-4397-8AF3-7005A7B11CB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AE/MOE1-D-CN</OrgInhalt>
      <Wert>AE/MOE1-D-CN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Bosch Automotive Products (Suzhou) Co. Ltd  2020. All rights reserved, also regarding any disposal, exploitation, reproduction, editing, distribution, as well as in the event of applications for industrial property rights.</OrgInhalt>
      <Wert>© Bosch Automotive Products (Suzhou) Co. Ltd  2020.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2020-04-30</OrgInhalt>
      <Wert>2020-04-30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elect>
  <Line>
    <Color val="D70012"/>
    <Color val="EA6876"/>
    <Color val="a80163"/>
    <Color val="D067AD"/>
    <Color val="3f136c"/>
    <Color val="967CB1"/>
    <Color val="08427e"/>
    <Color val="6D9ABC"/>
    <Color val="0e78c5"/>
    <Color val="6FB9E2"/>
    <Color val="1399a0"/>
    <Color val="6FC9CC"/>
    <Color val="67b419"/>
    <Color val="AEDB7D"/>
    <Color val="0a5139"/>
    <Color val="6EA293"/>
    <Color val="999FA6"/>
    <Color val="D7D7D7"/>
    <Color val="000000"/>
    <Color val="FFFFFF"/>
  </Line>
</sax_ColorSelect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1674</Words>
  <Application>Microsoft Office PowerPoint</Application>
  <PresentationFormat>Custom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</vt:lpstr>
      <vt:lpstr>Bosch Office Sans</vt:lpstr>
      <vt:lpstr>Calibri</vt:lpstr>
      <vt:lpstr>Wingdings 3</vt:lpstr>
      <vt:lpstr>Bosch NG</vt:lpstr>
      <vt:lpstr>Getting started with Web core</vt:lpstr>
      <vt:lpstr>准备及安装</vt:lpstr>
      <vt:lpstr>卸载</vt:lpstr>
      <vt:lpstr>准备及安装</vt:lpstr>
      <vt:lpstr>项目</vt:lpstr>
      <vt:lpstr>目录结构</vt:lpstr>
      <vt:lpstr>核心概念</vt:lpstr>
      <vt:lpstr>组件</vt:lpstr>
      <vt:lpstr>模板</vt:lpstr>
      <vt:lpstr>指令</vt:lpstr>
      <vt:lpstr>链接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Web core</dc:title>
  <dc:creator>CAO Lingyang (AE/MOE5-BPS-CN)</dc:creator>
  <cp:lastModifiedBy>QIAO Xuejian (AE/TEF9.2-CN, BCSC-ENG3-AT)</cp:lastModifiedBy>
  <cp:revision>33</cp:revision>
  <dcterms:created xsi:type="dcterms:W3CDTF">2020-04-30T09:21:24Z</dcterms:created>
  <dcterms:modified xsi:type="dcterms:W3CDTF">2021-06-17T06:51:17Z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